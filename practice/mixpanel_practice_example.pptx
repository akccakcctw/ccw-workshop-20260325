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PV</c:v>
                </c:pt>
              </c:strCache>
            </c:strRef>
          </c:tx>
          <c:spPr>
            <a:solidFill>
              <a:srgbClr val="065A82"/>
            </a:solidFill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2/22</c:v>
                  </c:pt>
                  <c:pt idx="1">
                    <c:v>2/23</c:v>
                  </c:pt>
                  <c:pt idx="2">
                    <c:v>2/24</c:v>
                  </c:pt>
                  <c:pt idx="3">
                    <c:v>2/25</c:v>
                  </c:pt>
                  <c:pt idx="4">
                    <c:v>2/26</c:v>
                  </c:pt>
                  <c:pt idx="5">
                    <c:v>2/27</c:v>
                  </c:pt>
                  <c:pt idx="6">
                    <c:v>2/28</c:v>
                  </c:pt>
                  <c:pt idx="7">
                    <c:v>3/1</c:v>
                  </c:pt>
                  <c:pt idx="8">
                    <c:v>3/2</c:v>
                  </c:pt>
                  <c:pt idx="9">
                    <c:v>3/3</c:v>
                  </c:pt>
                  <c:pt idx="10">
                    <c:v>3/4</c:v>
                  </c:pt>
                  <c:pt idx="11">
                    <c:v>3/5</c:v>
                  </c:pt>
                  <c:pt idx="12">
                    <c:v>3/6</c:v>
                  </c:pt>
                  <c:pt idx="13">
                    <c:v>3/7</c:v>
                  </c:pt>
                  <c:pt idx="14">
                    <c:v>3/8</c:v>
                  </c:pt>
                  <c:pt idx="15">
                    <c:v>3/9</c:v>
                  </c:pt>
                  <c:pt idx="16">
                    <c:v>3/10</c:v>
                  </c:pt>
                  <c:pt idx="17">
                    <c:v>3/11</c:v>
                  </c:pt>
                  <c:pt idx="18">
                    <c:v>3/12</c:v>
                  </c:pt>
                  <c:pt idx="19">
                    <c:v>3/13</c:v>
                  </c:pt>
                  <c:pt idx="20">
                    <c:v>3/14</c:v>
                  </c:pt>
                  <c:pt idx="21">
                    <c:v>3/15</c:v>
                  </c:pt>
                  <c:pt idx="22">
                    <c:v>3/16</c:v>
                  </c:pt>
                  <c:pt idx="23">
                    <c:v>3/17</c:v>
                  </c:pt>
                  <c:pt idx="24">
                    <c:v>3/18</c:v>
                  </c:pt>
                  <c:pt idx="25">
                    <c:v>3/19</c:v>
                  </c:pt>
                  <c:pt idx="26">
                    <c:v>3/20</c:v>
                  </c:pt>
                  <c:pt idx="27">
                    <c:v>3/21</c:v>
                  </c:pt>
                  <c:pt idx="28">
                    <c:v>3/22</c:v>
                  </c:pt>
                  <c:pt idx="29">
                    <c:v>3/23</c:v>
                  </c:pt>
                </c:lvl>
              </c:multiLvlStrCache>
            </c:multiLvl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245457</c:v>
                </c:pt>
                <c:pt idx="1">
                  <c:v>207639</c:v>
                </c:pt>
                <c:pt idx="2">
                  <c:v>193310</c:v>
                </c:pt>
                <c:pt idx="3">
                  <c:v>190781</c:v>
                </c:pt>
                <c:pt idx="4">
                  <c:v>159505</c:v>
                </c:pt>
                <c:pt idx="5">
                  <c:v>170310</c:v>
                </c:pt>
                <c:pt idx="6">
                  <c:v>178547</c:v>
                </c:pt>
                <c:pt idx="7">
                  <c:v>192905</c:v>
                </c:pt>
                <c:pt idx="8">
                  <c:v>164248</c:v>
                </c:pt>
                <c:pt idx="9">
                  <c:v>152529</c:v>
                </c:pt>
                <c:pt idx="10">
                  <c:v>155764</c:v>
                </c:pt>
                <c:pt idx="11">
                  <c:v>154059</c:v>
                </c:pt>
                <c:pt idx="12">
                  <c:v>154128</c:v>
                </c:pt>
                <c:pt idx="13">
                  <c:v>173571</c:v>
                </c:pt>
                <c:pt idx="14">
                  <c:v>181425</c:v>
                </c:pt>
                <c:pt idx="15">
                  <c:v>152915</c:v>
                </c:pt>
                <c:pt idx="16">
                  <c:v>143081</c:v>
                </c:pt>
                <c:pt idx="17">
                  <c:v>155365</c:v>
                </c:pt>
                <c:pt idx="18">
                  <c:v>156329</c:v>
                </c:pt>
                <c:pt idx="19">
                  <c:v>159300</c:v>
                </c:pt>
                <c:pt idx="20">
                  <c:v>178490</c:v>
                </c:pt>
                <c:pt idx="21">
                  <c:v>187826</c:v>
                </c:pt>
                <c:pt idx="22">
                  <c:v>162852</c:v>
                </c:pt>
                <c:pt idx="23">
                  <c:v>160301</c:v>
                </c:pt>
                <c:pt idx="24">
                  <c:v>159829</c:v>
                </c:pt>
                <c:pt idx="25">
                  <c:v>166254</c:v>
                </c:pt>
                <c:pt idx="26">
                  <c:v>174885</c:v>
                </c:pt>
                <c:pt idx="27">
                  <c:v>188089</c:v>
                </c:pt>
                <c:pt idx="28">
                  <c:v>186390</c:v>
                </c:pt>
                <c:pt idx="29">
                  <c:v>157825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UV</c:v>
                </c:pt>
              </c:strCache>
            </c:strRef>
          </c:tx>
          <c:spPr>
            <a:solidFill>
              <a:srgbClr val="00B4D8"/>
            </a:solidFill>
            <a:ln w="25400" cap="flat">
              <a:solidFill>
                <a:srgbClr val="00B4D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Sheet1!$A$2:$A$31</c:f>
              <c:multiLvlStrCache>
                <c:ptCount val="30"/>
                <c:lvl>
                  <c:pt idx="0">
                    <c:v>2/22</c:v>
                  </c:pt>
                  <c:pt idx="1">
                    <c:v>2/23</c:v>
                  </c:pt>
                  <c:pt idx="2">
                    <c:v>2/24</c:v>
                  </c:pt>
                  <c:pt idx="3">
                    <c:v>2/25</c:v>
                  </c:pt>
                  <c:pt idx="4">
                    <c:v>2/26</c:v>
                  </c:pt>
                  <c:pt idx="5">
                    <c:v>2/27</c:v>
                  </c:pt>
                  <c:pt idx="6">
                    <c:v>2/28</c:v>
                  </c:pt>
                  <c:pt idx="7">
                    <c:v>3/1</c:v>
                  </c:pt>
                  <c:pt idx="8">
                    <c:v>3/2</c:v>
                  </c:pt>
                  <c:pt idx="9">
                    <c:v>3/3</c:v>
                  </c:pt>
                  <c:pt idx="10">
                    <c:v>3/4</c:v>
                  </c:pt>
                  <c:pt idx="11">
                    <c:v>3/5</c:v>
                  </c:pt>
                  <c:pt idx="12">
                    <c:v>3/6</c:v>
                  </c:pt>
                  <c:pt idx="13">
                    <c:v>3/7</c:v>
                  </c:pt>
                  <c:pt idx="14">
                    <c:v>3/8</c:v>
                  </c:pt>
                  <c:pt idx="15">
                    <c:v>3/9</c:v>
                  </c:pt>
                  <c:pt idx="16">
                    <c:v>3/10</c:v>
                  </c:pt>
                  <c:pt idx="17">
                    <c:v>3/11</c:v>
                  </c:pt>
                  <c:pt idx="18">
                    <c:v>3/12</c:v>
                  </c:pt>
                  <c:pt idx="19">
                    <c:v>3/13</c:v>
                  </c:pt>
                  <c:pt idx="20">
                    <c:v>3/14</c:v>
                  </c:pt>
                  <c:pt idx="21">
                    <c:v>3/15</c:v>
                  </c:pt>
                  <c:pt idx="22">
                    <c:v>3/16</c:v>
                  </c:pt>
                  <c:pt idx="23">
                    <c:v>3/17</c:v>
                  </c:pt>
                  <c:pt idx="24">
                    <c:v>3/18</c:v>
                  </c:pt>
                  <c:pt idx="25">
                    <c:v>3/19</c:v>
                  </c:pt>
                  <c:pt idx="26">
                    <c:v>3/20</c:v>
                  </c:pt>
                  <c:pt idx="27">
                    <c:v>3/21</c:v>
                  </c:pt>
                  <c:pt idx="28">
                    <c:v>3/22</c:v>
                  </c:pt>
                  <c:pt idx="29">
                    <c:v>3/23</c:v>
                  </c:pt>
                </c:lvl>
              </c:multiLvlStrCache>
            </c:multiLvlStrRef>
          </c:cat>
          <c:val>
            <c:numRef>
              <c:f>Sheet1!$C$2:$C$31</c:f>
              <c:numCache>
                <c:formatCode>General</c:formatCode>
                <c:ptCount val="30"/>
                <c:pt idx="0">
                  <c:v>155185</c:v>
                </c:pt>
                <c:pt idx="1">
                  <c:v>128111</c:v>
                </c:pt>
                <c:pt idx="2">
                  <c:v>119190</c:v>
                </c:pt>
                <c:pt idx="3">
                  <c:v>117501</c:v>
                </c:pt>
                <c:pt idx="4">
                  <c:v>98518</c:v>
                </c:pt>
                <c:pt idx="5">
                  <c:v>104777</c:v>
                </c:pt>
                <c:pt idx="6">
                  <c:v>108602</c:v>
                </c:pt>
                <c:pt idx="7">
                  <c:v>118545</c:v>
                </c:pt>
                <c:pt idx="8">
                  <c:v>101671</c:v>
                </c:pt>
                <c:pt idx="9">
                  <c:v>93209</c:v>
                </c:pt>
                <c:pt idx="10">
                  <c:v>96027</c:v>
                </c:pt>
                <c:pt idx="11">
                  <c:v>92773</c:v>
                </c:pt>
                <c:pt idx="12">
                  <c:v>92519</c:v>
                </c:pt>
                <c:pt idx="13">
                  <c:v>106033</c:v>
                </c:pt>
                <c:pt idx="14">
                  <c:v>109617</c:v>
                </c:pt>
                <c:pt idx="15">
                  <c:v>90536</c:v>
                </c:pt>
                <c:pt idx="16">
                  <c:v>83868</c:v>
                </c:pt>
                <c:pt idx="17">
                  <c:v>91518</c:v>
                </c:pt>
                <c:pt idx="18">
                  <c:v>92876</c:v>
                </c:pt>
                <c:pt idx="19">
                  <c:v>93676</c:v>
                </c:pt>
                <c:pt idx="20">
                  <c:v>108032</c:v>
                </c:pt>
                <c:pt idx="21">
                  <c:v>113414</c:v>
                </c:pt>
                <c:pt idx="22">
                  <c:v>97145</c:v>
                </c:pt>
                <c:pt idx="23">
                  <c:v>93738</c:v>
                </c:pt>
                <c:pt idx="24">
                  <c:v>95484</c:v>
                </c:pt>
                <c:pt idx="25">
                  <c:v>101265</c:v>
                </c:pt>
                <c:pt idx="26">
                  <c:v>107613</c:v>
                </c:pt>
                <c:pt idx="27">
                  <c:v>116818</c:v>
                </c:pt>
                <c:pt idx="28">
                  <c:v>114791</c:v>
                </c:pt>
                <c:pt idx="29">
                  <c:v>96538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Users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TW</c:v>
                  </c:pt>
                  <c:pt idx="1">
                    <c:v>JP</c:v>
                  </c:pt>
                  <c:pt idx="2">
                    <c:v>HK</c:v>
                  </c:pt>
                  <c:pt idx="3">
                    <c:v>US</c:v>
                  </c:pt>
                  <c:pt idx="4">
                    <c:v>KR</c:v>
                  </c:pt>
                  <c:pt idx="5">
                    <c:v>EN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805542</c:v>
                </c:pt>
                <c:pt idx="1">
                  <c:v>716833</c:v>
                </c:pt>
                <c:pt idx="2">
                  <c:v>426739</c:v>
                </c:pt>
                <c:pt idx="3">
                  <c:v>330470</c:v>
                </c:pt>
                <c:pt idx="4">
                  <c:v>145530</c:v>
                </c:pt>
                <c:pt idx="5">
                  <c:v>115898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Unique Users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optimise</c:v>
                  </c:pt>
                  <c:pt idx="1">
                    <c:v>InvolveAsia</c:v>
                  </c:pt>
                  <c:pt idx="2">
                    <c:v>chatgpt.com</c:v>
                  </c:pt>
                  <c:pt idx="3">
                    <c:v>fb</c:v>
                  </c:pt>
                  <c:pt idx="4">
                    <c:v>line</c:v>
                  </c:pt>
                  <c:pt idx="5">
                    <c:v>IG post</c:v>
                  </c:pt>
                  <c:pt idx="6">
                    <c:v>edm</c:v>
                  </c:pt>
                  <c:pt idx="7">
                    <c:v>facebook_tw</c:v>
                  </c:pt>
                  <c:pt idx="8">
                    <c:v>ig</c:v>
                  </c:pt>
                  <c:pt idx="9">
                    <c:v>facebook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52054</c:v>
                </c:pt>
                <c:pt idx="1">
                  <c:v>18316</c:v>
                </c:pt>
                <c:pt idx="2">
                  <c:v>11809</c:v>
                </c:pt>
                <c:pt idx="3">
                  <c:v>6333</c:v>
                </c:pt>
                <c:pt idx="4">
                  <c:v>5805</c:v>
                </c:pt>
                <c:pt idx="5">
                  <c:v>5754</c:v>
                </c:pt>
                <c:pt idx="6">
                  <c:v>3915</c:v>
                </c:pt>
                <c:pt idx="7">
                  <c:v>3752</c:v>
                </c:pt>
                <c:pt idx="8">
                  <c:v>2838</c:v>
                </c:pt>
                <c:pt idx="9">
                  <c:v>2183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Vertical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bubble3D val="0"/>
            <c:spPr>
              <a:solidFill>
                <a:srgbClr val="38BDF8"/>
              </a:solidFill>
              <a:effectLst/>
            </c:spPr>
          </c:dPt>
          <c:dPt>
            <c:idx val="4"/>
            <c:bubble3D val="0"/>
            <c:spPr>
              <a:solidFill>
                <a:srgbClr val="7DD3F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DEFAULT</c:v>
                </c:pt>
                <c:pt idx="1">
                  <c:v>TICKET</c:v>
                </c:pt>
                <c:pt idx="2">
                  <c:v>TOUR</c:v>
                </c:pt>
                <c:pt idx="3">
                  <c:v>HOTEL</c:v>
                </c:pt>
                <c:pt idx="4">
                  <c:v>F&amp;B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1006710</c:v>
                </c:pt>
                <c:pt idx="1">
                  <c:v>995094</c:v>
                </c:pt>
                <c:pt idx="2">
                  <c:v>763394</c:v>
                </c:pt>
                <c:pt idx="3">
                  <c:v>52007</c:v>
                </c:pt>
                <c:pt idx="4">
                  <c:v>24364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Page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健檢工作坊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mweb 數據深度剖析 — 最近 30 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 | KKday Product Team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今天的議程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2618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流量總覽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5361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 PV / UV 趨勢，掌握 mweb 的流量規模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199339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9751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用戶從哪裡來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249424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國家分佈、流量來源、產品類型拆解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7066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26883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轉換漏斗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96265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選方案 → 預訂，找出流失點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41985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19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34015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用戶行為模式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367588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哪些互動與轉換相關？哪些被忽略？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13308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114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關鍵發現 &amp; 行動方案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3891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數據背後的故事，以及我們可以做什麼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流量總覽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mweb (m.kkday.com) | 最近 30 天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18288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24688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65A8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5.08M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總瀏覽次數 (PV)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日均 ~169K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468880" cy="18288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554480"/>
            <a:ext cx="2468880" cy="54864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1C729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2.63M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47472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不重複用戶 (UV)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日均 ~100K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2468880" cy="182880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554480"/>
            <a:ext cx="246888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737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B4D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1.93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21792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人均瀏覽次數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2834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/ UV</a:t>
            </a:r>
            <a:endParaRPr lang="en-US" sz="12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3657600"/>
          <a:ext cx="822960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用戶從哪裡來：國家分佈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7548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0" y="1188720"/>
            <a:ext cx="3200400" cy="347472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0" y="1188720"/>
            <a:ext cx="54864" cy="34747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3"/>
          <p:cNvSpPr/>
          <p:nvPr/>
        </p:nvSpPr>
        <p:spPr>
          <a:xfrm>
            <a:off x="576072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760720" y="182880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 + JP 佔 58%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台灣與日本是 mweb 最大市場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 + US 佔 29%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香港與美國為第二梯隊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 有成長空間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韓國佔比 5.5%，可評估加大投入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流量來源分析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utm_source 分類（排除 undefined）| 不重複用戶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371600"/>
          <a:ext cx="82296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840480"/>
            <a:ext cx="7680960" cy="100584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31520" y="3840480"/>
            <a:ext cx="54864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393192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流量無 UTM 標記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2,525,147 用戶的 utm_source 為 undefined。建議優先改善 UTM 覆蓋率，才能更精確地歸因流量來源，衡量各渠道 ROI。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產品類型分佈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Vertical 分類 | 不重複用戶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280160"/>
          <a:ext cx="41148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6" name="Shape 3"/>
          <p:cNvSpPr/>
          <p:nvPr/>
        </p:nvSpPr>
        <p:spPr>
          <a:xfrm>
            <a:off x="4754880" y="1371600"/>
            <a:ext cx="54864" cy="5029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4"/>
          <p:cNvSpPr/>
          <p:nvPr/>
        </p:nvSpPr>
        <p:spPr>
          <a:xfrm>
            <a:off x="498348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92240" y="13716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1,006,710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0" y="137160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35.3%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54880" y="2011680"/>
            <a:ext cx="3931920" cy="5029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201168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20116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20116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995,094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772400" y="2011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34.9%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54880" y="2651760"/>
            <a:ext cx="3931920" cy="5029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16" name="Shape 13"/>
          <p:cNvSpPr/>
          <p:nvPr/>
        </p:nvSpPr>
        <p:spPr>
          <a:xfrm>
            <a:off x="4754880" y="2651760"/>
            <a:ext cx="54864" cy="5029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4"/>
          <p:cNvSpPr/>
          <p:nvPr/>
        </p:nvSpPr>
        <p:spPr>
          <a:xfrm>
            <a:off x="4983480" y="26517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92240" y="26517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763,394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772400" y="26517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26.8%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754880" y="3291840"/>
            <a:ext cx="3931920" cy="5029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1" name="Shape 18"/>
          <p:cNvSpPr/>
          <p:nvPr/>
        </p:nvSpPr>
        <p:spPr>
          <a:xfrm>
            <a:off x="4754880" y="3291840"/>
            <a:ext cx="54864" cy="5029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2" name="Text 19"/>
          <p:cNvSpPr/>
          <p:nvPr/>
        </p:nvSpPr>
        <p:spPr>
          <a:xfrm>
            <a:off x="4983480" y="32918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92240" y="3291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52,007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772400" y="3291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1.8%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754880" y="3931920"/>
            <a:ext cx="3931920" cy="502920"/>
          </a:xfrm>
          <a:prstGeom prst="rect">
            <a:avLst/>
          </a:prstGeom>
          <a:solidFill>
            <a:srgbClr val="F0F7FA"/>
          </a:solidFill>
          <a:ln/>
        </p:spPr>
      </p:sp>
      <p:sp>
        <p:nvSpPr>
          <p:cNvPr id="26" name="Shape 23"/>
          <p:cNvSpPr/>
          <p:nvPr/>
        </p:nvSpPr>
        <p:spPr>
          <a:xfrm>
            <a:off x="4754880" y="3931920"/>
            <a:ext cx="54864" cy="502920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27" name="Text 24"/>
          <p:cNvSpPr/>
          <p:nvPr/>
        </p:nvSpPr>
        <p:spPr>
          <a:xfrm>
            <a:off x="4983480" y="39319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F&amp;B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92240" y="393192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24,364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7772400" y="39319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0.9%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轉換漏斗分析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View_ProdPg → Click_PackageCard → Click_BookingBtn | 1 天轉換窗口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7315200" cy="777240"/>
          </a:xfrm>
          <a:prstGeom prst="rect">
            <a:avLst/>
          </a:prstGeom>
          <a:solidFill>
            <a:srgbClr val="065A82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46304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瀏覽商品頁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847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2,626,719 用戶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14630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1920240" y="2560320"/>
            <a:ext cx="5303520" cy="777240"/>
          </a:xfrm>
          <a:prstGeom prst="rect">
            <a:avLst/>
          </a:prstGeom>
          <a:solidFill>
            <a:srgbClr val="1C7293">
              <a:alpha val="8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920240" y="256032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210312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點擊方案卡片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10312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1,289,529 用戶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0" y="256032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49%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84048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49% 轉換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657600"/>
            <a:ext cx="2560320" cy="77724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365760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0" y="3703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點擊預訂按鈕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474720" y="40416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124,816 用戶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6576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8404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10% 轉換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480560"/>
            <a:ext cx="7680960" cy="5029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4805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從方案卡片 → 預訂按鈕的 10% 轉換率是最大的優化機會點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用戶行為模式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各互動行為的不重複用戶數及佔瀏覽用戶比例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瀏覽商品頁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51760" y="1536192"/>
            <a:ext cx="594360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73252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2,634,226  (100%)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點擊方案卡片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2084832"/>
            <a:ext cx="3060954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849874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1,356,773  (51.5%)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點擊預訂按鈕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51760" y="2633472"/>
            <a:ext cx="647852" cy="2743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3436772" y="2560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287,707  (10.9%)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108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查看更多評論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651760" y="3182112"/>
            <a:ext cx="274320" cy="2743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5" name="Text 13"/>
          <p:cNvSpPr/>
          <p:nvPr/>
        </p:nvSpPr>
        <p:spPr>
          <a:xfrm>
            <a:off x="306324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79,809  (3%)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657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查看商品圖片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51760" y="3730752"/>
            <a:ext cx="27432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306324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19,378  (0.7%)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2062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查看地圖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651760" y="4279392"/>
            <a:ext cx="274320" cy="274320"/>
          </a:xfrm>
          <a:prstGeom prst="rect">
            <a:avLst/>
          </a:prstGeom>
          <a:solidFill>
            <a:srgbClr val="7DD3FC"/>
          </a:solidFill>
          <a:ln/>
        </p:spPr>
      </p:sp>
      <p:sp>
        <p:nvSpPr>
          <p:cNvPr id="21" name="Text 19"/>
          <p:cNvSpPr/>
          <p:nvPr/>
        </p:nvSpPr>
        <p:spPr>
          <a:xfrm>
            <a:off x="306324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2,065  (0.08%)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solidFill>
            <a:srgbClr val="F0F7FA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31520" y="411480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16052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觀察：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超過一半用戶會點擊方案卡片，但僅 10.9% 走到預訂。評論（3%）和圖片（0.7%）互動偏低，優化這些元素的吸引力可能有助於提升轉換。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關鍵發現 &amp; 行動方案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502920" cy="22860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08760" y="120700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方案卡片 → 預訂的轉換率僅 10%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優化方案卡片的價格展示、可用日期提示，降低決策摩擦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938528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938528"/>
            <a:ext cx="54864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984248"/>
            <a:ext cx="502920" cy="22860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1956816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流量缺少 UTM 標記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08760" y="225856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制定 UTM 規範，確保所有渠道投放都帶完整參數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688336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688336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2734056"/>
            <a:ext cx="502920" cy="2286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08760" y="2706624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評論互動率僅 3%，圖片僅 0.7%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300837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測試更突出的評論摘要卡片與圖片輪播設計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438144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438144"/>
            <a:ext cx="54864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483864"/>
            <a:ext cx="502920" cy="22860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08760" y="3456432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週末流量顯著高於工作日（+30%）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08760" y="375818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週末加強推播與限時優惠活動，最大化轉換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187952"/>
            <a:ext cx="76809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4187952"/>
            <a:ext cx="54864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233672"/>
            <a:ext cx="502920" cy="228600"/>
          </a:xfrm>
          <a:prstGeom prst="rect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508760" y="420624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已成為 Top 3 可追蹤來源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508760" y="450799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研究 AI 搜尋優化策略（AIO），確保商品資訊結構化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Discussion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Next Steps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哪些發現最讓你驚訝？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你認為哪個優化項目應該最先執行？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還需要哪些數據來支持決策？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Product Page 健檢工作坊 — mweb 數據深度剖析</dc:title>
  <dc:subject>PptxGenJS Presentation</dc:subject>
  <dc:creator>KKday Product Team</dc:creator>
  <cp:lastModifiedBy>KKday Product Team</cp:lastModifiedBy>
  <cp:revision>1</cp:revision>
  <dcterms:created xsi:type="dcterms:W3CDTF">2026-03-24T10:11:30Z</dcterms:created>
  <dcterms:modified xsi:type="dcterms:W3CDTF">2026-03-24T10:11:30Z</dcterms:modified>
</cp:coreProperties>
</file>